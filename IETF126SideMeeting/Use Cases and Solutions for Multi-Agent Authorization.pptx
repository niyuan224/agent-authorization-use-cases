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265" r:id="rId3"/>
    <p:sldId id="266" r:id="rId4"/>
    <p:sldId id="257" r:id="rId5"/>
    <p:sldId id="263" r:id="rId6"/>
    <p:sldId id="256" r:id="rId7"/>
    <p:sldId id="267" r:id="rId8"/>
    <p:sldId id="261" r:id="rId9"/>
    <p:sldId id="268" r:id="rId10"/>
    <p:sldId id="26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B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4660"/>
  </p:normalViewPr>
  <p:slideViewPr>
    <p:cSldViewPr snapToGrid="0">
      <p:cViewPr>
        <p:scale>
          <a:sx n="75" d="100"/>
          <a:sy n="75" d="100"/>
        </p:scale>
        <p:origin x="3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25979-9ECE-44E7-9474-EF5EA248D77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72B2E-782C-4BF8-8773-EC6A73B0DD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070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619CA-B7E0-46E4-8B6F-E503F15A1C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09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8874E-88BC-1220-05FF-454857C12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7A9FC2-304F-9513-C026-48DD098F3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6568C5-3FA0-5306-ADA7-EF677EFAB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D7D143-A8C6-5959-79C4-767CD2B3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C36C6-4583-E89D-B488-87412C48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97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72BEF-2482-BE07-7C84-E6D413D49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074336-2121-DE2F-D6E9-7E2264B9D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18E209-D6BD-9B10-31BB-BF5D3EEF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C8C628-4275-EEE8-32D4-EA813D07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FE9697-F7AE-DA4B-C011-9F80E34B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9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62CE1-20FA-E7F6-FCAE-35967BDD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F49B22-0125-C618-0057-712899003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1CE302-3AE0-095B-6E80-625659FDE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3285C-7B5E-FBBA-0505-4FF0E1A2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033F46-03E2-EF48-9A70-05F17B56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141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693148-F2CB-950A-CD89-994EE1B6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0A407E-D75C-9522-B594-DAE7F6E7C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7C4462-4A40-C157-FAFF-AF102D1B9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986734-9BAE-A71E-4AC7-8B125A63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D0EBD3-A525-5518-C293-D86C1A9D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509EC-02A2-2036-E2C9-28051DBA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83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91EA9-BEA3-192B-2C2F-EAE49CCB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84A32D-D0AD-974A-D4D1-63F1E9882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C94BE0-ADD7-402C-40B7-A0329D5A3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4D62CC-4E47-B5DC-2C8D-8C0E37B8A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E72570-DFAC-50FF-17DC-EB3A71BD7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CA6B4C-1B0D-901A-46F2-033AA6F6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137ED1-9F6A-52CF-E5AA-40BF7533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567D80-BD99-0F31-2121-9AF5FF46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24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C9D67-02CD-8167-E8FD-2F884965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7EE6F6-3CFB-0AC4-D41B-4FE63AB5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FF2FFA-A2B5-C7DA-377B-06ECBADD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918BF8-D7D5-8EE9-E859-E153DDD32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07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146261-52EF-E127-247C-D8D6B991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88D255-D617-0230-498E-56B2B475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7C2754-B31D-DF19-4798-7FD3DED4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102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A5B7A-9F5C-84F8-1EEC-F1C0A2F2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D7A1E-1089-0B1A-13D7-E74CABE89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C1D266-062B-4662-43A8-3E8E3DBDA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2D7C8-78BA-FE72-6F83-9B3B3543D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B78688-5EA5-91DE-4650-CB31E6774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E3A826-C4DA-B13E-C274-CB7ED6D7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916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CEF9D-80BA-235B-2517-D108DCCFE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817A93-00E5-E608-10F1-169702A1A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055F40-9F68-C673-B868-9235664F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A35D61-0C62-DFE8-B449-2CE3DA79E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A1FFED-1089-2797-CE92-F7EE86B7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523325-A0AE-6CCD-8054-267C2734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20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BB1B4-6914-B904-C374-77139F5C3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989C3C-E826-FE32-65B1-B2AFB0188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E0E476-1D76-81D4-F9F7-A3F47EC4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FAA5B5-EFD1-9F54-AE0E-2A2214F6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DBD484-5958-4AB9-5CB6-C8E5FDA9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0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F031D2-2E6B-4D06-099D-2C2B89535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39E799-2553-B1D1-2184-7D13CA687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4607A5-9E34-E2C9-8791-4D13F987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C4AC02-3484-ED4A-EE85-41761A78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9FA260-59F8-F1A7-670B-7D4E4A12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80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7CFD37-8C8E-581E-8C85-19FEE0BB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C5E66B-B7F5-BC00-B47B-B8FE43A88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683247-1E8B-2560-70DE-6CC9C77C7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53AAF-EEAE-44AB-A68D-E4183C7596D4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89DC32-265C-61A4-91B9-6AC1922BF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03C05D-55DD-C0BC-6044-47ECF7192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793AD-3E8B-4CD9-9DD8-E1FAB039D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6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D31AD7B-6905-4B07-BD6F-698A2E205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489" y="1041400"/>
            <a:ext cx="11753021" cy="23876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 Cases and Solutions for Multi-Agent Authorization</a:t>
            </a:r>
            <a:endParaRPr lang="en-US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40F5683C-CB71-4337-93D3-0B3C34784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Chunchi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Peter Liu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Yuan Ni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IETF 126, </a:t>
            </a:r>
            <a:r>
              <a:rPr lang="en-US" altLang="zh-CN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Vienna</a:t>
            </a:r>
            <a:endParaRPr lang="en-US" altLang="zh-CN" b="0" i="0" dirty="0">
              <a:solidFill>
                <a:srgbClr val="2125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9879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D31AD7B-6905-4B07-BD6F-698A2E205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55" y="2158760"/>
            <a:ext cx="11753021" cy="658004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Cross-Domain Task Context Propagation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069075F-4FA5-721E-A0A8-62481869247B}"/>
              </a:ext>
            </a:extLst>
          </p:cNvPr>
          <p:cNvSpPr txBox="1">
            <a:spLocks/>
          </p:cNvSpPr>
          <p:nvPr/>
        </p:nvSpPr>
        <p:spPr>
          <a:xfrm>
            <a:off x="926854" y="1293962"/>
            <a:ext cx="1175302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Authorization Delegation</a:t>
            </a:r>
          </a:p>
        </p:txBody>
      </p:sp>
    </p:spTree>
    <p:extLst>
      <p:ext uri="{BB962C8B-B14F-4D97-AF65-F5344CB8AC3E}">
        <p14:creationId xmlns:p14="http://schemas.microsoft.com/office/powerpoint/2010/main" val="177715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D31AD7B-6905-4B07-BD6F-698A2E205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55" y="2158760"/>
            <a:ext cx="11753021" cy="658004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30B5C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Cross-Domain Task Context Propagation</a:t>
            </a:r>
            <a:endParaRPr lang="en-US" sz="3600" b="1" dirty="0">
              <a:solidFill>
                <a:srgbClr val="30B5C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069075F-4FA5-721E-A0A8-62481869247B}"/>
              </a:ext>
            </a:extLst>
          </p:cNvPr>
          <p:cNvSpPr txBox="1">
            <a:spLocks/>
          </p:cNvSpPr>
          <p:nvPr/>
        </p:nvSpPr>
        <p:spPr>
          <a:xfrm>
            <a:off x="926854" y="1293962"/>
            <a:ext cx="1175302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Authorization Delegation</a:t>
            </a:r>
          </a:p>
        </p:txBody>
      </p:sp>
    </p:spTree>
    <p:extLst>
      <p:ext uri="{BB962C8B-B14F-4D97-AF65-F5344CB8AC3E}">
        <p14:creationId xmlns:p14="http://schemas.microsoft.com/office/powerpoint/2010/main" val="2481409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A998FBB-C50F-4744-B801-9E9EDD9C9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44" y="2598604"/>
            <a:ext cx="5074955" cy="282531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EF5507E-0121-4342-BEED-6A0DBFB95214}"/>
              </a:ext>
            </a:extLst>
          </p:cNvPr>
          <p:cNvSpPr txBox="1">
            <a:spLocks/>
          </p:cNvSpPr>
          <p:nvPr/>
        </p:nvSpPr>
        <p:spPr>
          <a:xfrm>
            <a:off x="411445" y="0"/>
            <a:ext cx="12012203" cy="797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Cross-Domain Task Context Propagation—Use Cases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7239C-267F-4A07-97D5-6E227B4A6F5F}"/>
              </a:ext>
            </a:extLst>
          </p:cNvPr>
          <p:cNvSpPr/>
          <p:nvPr/>
        </p:nvSpPr>
        <p:spPr>
          <a:xfrm flipH="1">
            <a:off x="232123" y="120651"/>
            <a:ext cx="45719" cy="797964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74342F-0643-4A9B-84C7-E39076239923}"/>
              </a:ext>
            </a:extLst>
          </p:cNvPr>
          <p:cNvSpPr txBox="1"/>
          <p:nvPr/>
        </p:nvSpPr>
        <p:spPr>
          <a:xfrm>
            <a:off x="411445" y="746922"/>
            <a:ext cx="1178055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500"/>
              </a:spcBef>
              <a:spcAft>
                <a:spcPts val="600"/>
              </a:spcAft>
              <a:buClr>
                <a:srgbClr val="30B5C5"/>
              </a:buClr>
              <a:buFont typeface="Wingdings" panose="05000000000000000000" pitchFamily="2" charset="2"/>
              <a:buChar char="p"/>
            </a:pPr>
            <a:r>
              <a:rPr lang="en-US" altLang="zh-C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  <a:r>
              <a:rPr lang="zh-CN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endParaRPr lang="en-US" altLang="zh-CN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2" indent="-285750">
              <a:buClr>
                <a:srgbClr val="30B5C5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 of Agents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presents a vision of an open ecosystem where agents and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zh-CN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 (services, tools, etc. ) cooperate across different domains. (Supporters: Anthropic, Cisco, Google,  Huawei, Tencent……</a:t>
            </a:r>
          </a:p>
          <a:p>
            <a:pPr marL="742950" lvl="2" indent="-285750">
              <a:buClr>
                <a:srgbClr val="30B5C5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this process, preserving </a:t>
            </a:r>
            <a:r>
              <a:rPr lang="en-US" altLang="zh-C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Cross-Domain Task Context during propagation </a:t>
            </a:r>
            <a:r>
              <a:rPr lang="en-US" altLang="zh-C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becomes necessary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29030D-6708-48E0-9F5C-480E6B4C60FE}"/>
              </a:ext>
            </a:extLst>
          </p:cNvPr>
          <p:cNvSpPr txBox="1"/>
          <p:nvPr/>
        </p:nvSpPr>
        <p:spPr>
          <a:xfrm>
            <a:off x="320531" y="5406375"/>
            <a:ext cx="619506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Agent-Driven Emergency Response: </a:t>
            </a: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camera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an elderly fall </a:t>
            </a: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principal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assesses and invokes a  Medical Agent </a:t>
            </a: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Agent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verifies vital signs via wearable devices and </a:t>
            </a: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invokes an 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Emergency Response Service</a:t>
            </a:r>
            <a:endParaRPr lang="zh-CN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FF4188-1EFD-400C-9EEA-8E8D2D8CC4F9}"/>
              </a:ext>
            </a:extLst>
          </p:cNvPr>
          <p:cNvSpPr txBox="1"/>
          <p:nvPr/>
        </p:nvSpPr>
        <p:spPr>
          <a:xfrm>
            <a:off x="411444" y="2083343"/>
            <a:ext cx="8923055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500"/>
              </a:spcBef>
              <a:buClr>
                <a:srgbClr val="30B5C5"/>
              </a:buClr>
              <a:buFont typeface="Wingdings" panose="05000000000000000000" pitchFamily="2" charset="2"/>
              <a:buChar char="p"/>
            </a:pPr>
            <a:r>
              <a:rPr lang="en-US" altLang="zh-C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cases: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of the cases below need cross-domain resource collaboration.</a:t>
            </a:r>
          </a:p>
          <a:p>
            <a:pPr marL="342900" lvl="1" indent="-342900">
              <a:spcBef>
                <a:spcPts val="500"/>
              </a:spcBef>
              <a:buClr>
                <a:srgbClr val="30B5C5"/>
              </a:buClr>
              <a:buFont typeface="Wingdings" panose="05000000000000000000" pitchFamily="2" charset="2"/>
              <a:buChar char="p"/>
            </a:pPr>
            <a:endParaRPr lang="en-US" altLang="zh-C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EDE016-0D5E-4CED-9FD8-AC1738A3E485}"/>
              </a:ext>
            </a:extLst>
          </p:cNvPr>
          <p:cNvSpPr txBox="1"/>
          <p:nvPr/>
        </p:nvSpPr>
        <p:spPr>
          <a:xfrm>
            <a:off x="6301722" y="5344820"/>
            <a:ext cx="619507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Cross-Border Agent-Driven Supply Chain Finance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Vision Agent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extracts </a:t>
            </a:r>
            <a:r>
              <a:rPr lang="en-US" altLang="zh-C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Agent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runs trade compliance review </a:t>
            </a: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Financing Agent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submits factoring application and executes </a:t>
            </a:r>
          </a:p>
          <a:p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instant loan disbursement.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DCD2D0B-9EFE-44DF-9859-9EC64D7299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063" b="9456"/>
          <a:stretch/>
        </p:blipFill>
        <p:spPr>
          <a:xfrm>
            <a:off x="6096001" y="2647463"/>
            <a:ext cx="5684556" cy="231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40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F5507E-0121-4342-BEED-6A0DBFB95214}"/>
              </a:ext>
            </a:extLst>
          </p:cNvPr>
          <p:cNvSpPr txBox="1">
            <a:spLocks/>
          </p:cNvSpPr>
          <p:nvPr/>
        </p:nvSpPr>
        <p:spPr>
          <a:xfrm>
            <a:off x="411445" y="0"/>
            <a:ext cx="12012203" cy="797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Cross-Domain Task Context Propagation—Gap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7239C-267F-4A07-97D5-6E227B4A6F5F}"/>
              </a:ext>
            </a:extLst>
          </p:cNvPr>
          <p:cNvSpPr/>
          <p:nvPr/>
        </p:nvSpPr>
        <p:spPr>
          <a:xfrm flipH="1">
            <a:off x="232123" y="120651"/>
            <a:ext cx="45719" cy="797964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515711F-F815-4382-AF14-7C9C37C6A2CE}"/>
              </a:ext>
            </a:extLst>
          </p:cNvPr>
          <p:cNvGraphicFramePr>
            <a:graphicFrameLocks noGrp="1"/>
          </p:cNvGraphicFramePr>
          <p:nvPr/>
        </p:nvGraphicFramePr>
        <p:xfrm>
          <a:off x="523140" y="1966650"/>
          <a:ext cx="10787076" cy="2491740"/>
        </p:xfrm>
        <a:graphic>
          <a:graphicData uri="http://schemas.openxmlformats.org/drawingml/2006/table">
            <a:tbl>
              <a:tblPr/>
              <a:tblGrid>
                <a:gridCol w="3608037">
                  <a:extLst>
                    <a:ext uri="{9D8B030D-6E8A-4147-A177-3AD203B41FA5}">
                      <a16:colId xmlns:a16="http://schemas.microsoft.com/office/drawing/2014/main" val="416792108"/>
                    </a:ext>
                  </a:extLst>
                </a:gridCol>
                <a:gridCol w="3608037">
                  <a:extLst>
                    <a:ext uri="{9D8B030D-6E8A-4147-A177-3AD203B41FA5}">
                      <a16:colId xmlns:a16="http://schemas.microsoft.com/office/drawing/2014/main" val="74985201"/>
                    </a:ext>
                  </a:extLst>
                </a:gridCol>
                <a:gridCol w="3571002">
                  <a:extLst>
                    <a:ext uri="{9D8B030D-6E8A-4147-A177-3AD203B41FA5}">
                      <a16:colId xmlns:a16="http://schemas.microsoft.com/office/drawing/2014/main" val="339047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Drafts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What It Does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quote-cjk-patch"/>
                        </a:rPr>
                        <a:t>Limitation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9234"/>
                  </a:ext>
                </a:extLst>
              </a:tr>
              <a:tr h="497795">
                <a:tc>
                  <a:txBody>
                    <a:bodyPr/>
                    <a:lstStyle/>
                    <a:p>
                      <a:r>
                        <a:rPr lang="en-US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</a:t>
                      </a:r>
                      <a:r>
                        <a:rPr lang="en-US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-Token</a:t>
                      </a:r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  <a:p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[I-</a:t>
                      </a:r>
                      <a:r>
                        <a:rPr lang="en-US" b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D.ietf</a:t>
                      </a:r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b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oauth</a:t>
                      </a:r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-transaction-tokens]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Preserves user identity, workload identity, </a:t>
                      </a:r>
                      <a:r>
                        <a:rPr lang="en-US" b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authz</a:t>
                      </a:r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context (</a:t>
                      </a:r>
                      <a:r>
                        <a:rPr lang="en-US" b="0" u="none" dirty="0" err="1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</a:t>
                      </a:r>
                      <a:r>
                        <a:rPr lang="en-US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tctx</a:t>
                      </a:r>
                      <a:r>
                        <a:rPr lang="en-US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rctx</a:t>
                      </a:r>
                      <a:r>
                        <a:rPr lang="en-US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req_wl</a:t>
                      </a:r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within a single domain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 data model defined.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177244"/>
                  </a:ext>
                </a:extLst>
              </a:tr>
              <a:tr h="285717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Identity Chaining</a:t>
                      </a:r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  <a:p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[I-</a:t>
                      </a:r>
                      <a:r>
                        <a:rPr lang="en-US" b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D.ietf</a:t>
                      </a:r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b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oauth</a:t>
                      </a:r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-identity-chaining]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Enables cross-domain identity and authorization propagation via JAGs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Cross-domain transport mechanism defined.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78457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B1BAB951-9FB5-41EC-8E62-1644BD9932C2}"/>
              </a:ext>
            </a:extLst>
          </p:cNvPr>
          <p:cNvSpPr txBox="1"/>
          <p:nvPr/>
        </p:nvSpPr>
        <p:spPr>
          <a:xfrm>
            <a:off x="232123" y="1402646"/>
            <a:ext cx="1162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500"/>
              </a:spcBef>
              <a:buClr>
                <a:srgbClr val="30B5C5"/>
              </a:buClr>
              <a:buFont typeface="Wingdings" panose="05000000000000000000" pitchFamily="2" charset="2"/>
              <a:buChar char="p"/>
            </a:pPr>
            <a:r>
              <a:rPr lang="en-US" altLang="zh-C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Building Blocks: 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B2EEFA-D028-4EBC-AC8B-10302C466377}"/>
              </a:ext>
            </a:extLst>
          </p:cNvPr>
          <p:cNvSpPr txBox="1"/>
          <p:nvPr/>
        </p:nvSpPr>
        <p:spPr>
          <a:xfrm>
            <a:off x="285551" y="4939457"/>
            <a:ext cx="11620898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spcBef>
                <a:spcPts val="500"/>
              </a:spcBef>
              <a:buClr>
                <a:srgbClr val="30B5C5"/>
              </a:buClr>
              <a:buFont typeface="Wingdings" panose="05000000000000000000" pitchFamily="2" charset="2"/>
              <a:buChar char="p"/>
            </a:pPr>
            <a:r>
              <a:rPr lang="en-US" altLang="zh-C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</a:t>
            </a:r>
            <a:r>
              <a:rPr lang="zh-CN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</a:t>
            </a:r>
            <a:r>
              <a:rPr lang="en-US" altLang="zh-C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design for E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ncapsulate </a:t>
            </a:r>
            <a:r>
              <a:rPr lang="en-US" altLang="zh-C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Txn-Token contexts </a:t>
            </a:r>
            <a:r>
              <a:rPr lang="en-US" altLang="zh-CN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b="0" u="none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txn</a:t>
            </a:r>
            <a:r>
              <a:rPr lang="en-US" altLang="zh-CN" b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b="0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tctx</a:t>
            </a:r>
            <a:r>
              <a:rPr lang="en-US" altLang="zh-CN" b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b="0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rctx</a:t>
            </a:r>
            <a:r>
              <a:rPr lang="en-US" altLang="zh-CN" b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b="0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req_wl</a:t>
            </a:r>
            <a:r>
              <a:rPr lang="en-US" altLang="zh-CN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  <a:r>
              <a:rPr lang="en-US" altLang="zh-C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JAGs of Identity Chaining.</a:t>
            </a:r>
          </a:p>
          <a:p>
            <a:pPr marL="285750" lvl="1" indent="-285750">
              <a:spcBef>
                <a:spcPts val="500"/>
              </a:spcBef>
              <a:buClr>
                <a:srgbClr val="30B5C5"/>
              </a:buClr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blocks are mature; ONLY need to combine them!</a:t>
            </a:r>
            <a:endParaRPr lang="en-US" altLang="zh-C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292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F5507E-0121-4342-BEED-6A0DBFB95214}"/>
              </a:ext>
            </a:extLst>
          </p:cNvPr>
          <p:cNvSpPr txBox="1">
            <a:spLocks/>
          </p:cNvSpPr>
          <p:nvPr/>
        </p:nvSpPr>
        <p:spPr>
          <a:xfrm>
            <a:off x="411445" y="0"/>
            <a:ext cx="12012203" cy="797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7239C-267F-4A07-97D5-6E227B4A6F5F}"/>
              </a:ext>
            </a:extLst>
          </p:cNvPr>
          <p:cNvSpPr/>
          <p:nvPr/>
        </p:nvSpPr>
        <p:spPr>
          <a:xfrm flipH="1">
            <a:off x="232123" y="120651"/>
            <a:ext cx="45719" cy="797964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74342F-0643-4A9B-84C7-E39076239923}"/>
              </a:ext>
            </a:extLst>
          </p:cNvPr>
          <p:cNvSpPr txBox="1"/>
          <p:nvPr/>
        </p:nvSpPr>
        <p:spPr>
          <a:xfrm>
            <a:off x="411444" y="993099"/>
            <a:ext cx="12280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Bef>
                <a:spcPts val="500"/>
              </a:spcBef>
              <a:spcAft>
                <a:spcPts val="600"/>
              </a:spcAft>
              <a:buClr>
                <a:srgbClr val="30B5C5"/>
              </a:buClr>
            </a:pPr>
            <a:r>
              <a:rPr lang="en-US" altLang="zh-CN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works build on Identity Chaining + Txn-Token.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515711F-F815-4382-AF14-7C9C37C6A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293605"/>
              </p:ext>
            </p:extLst>
          </p:nvPr>
        </p:nvGraphicFramePr>
        <p:xfrm>
          <a:off x="460087" y="1454654"/>
          <a:ext cx="11271825" cy="4644388"/>
        </p:xfrm>
        <a:graphic>
          <a:graphicData uri="http://schemas.openxmlformats.org/drawingml/2006/table">
            <a:tbl>
              <a:tblPr/>
              <a:tblGrid>
                <a:gridCol w="1056197">
                  <a:extLst>
                    <a:ext uri="{9D8B030D-6E8A-4147-A177-3AD203B41FA5}">
                      <a16:colId xmlns:a16="http://schemas.microsoft.com/office/drawing/2014/main" val="416792108"/>
                    </a:ext>
                  </a:extLst>
                </a:gridCol>
                <a:gridCol w="3436716">
                  <a:extLst>
                    <a:ext uri="{9D8B030D-6E8A-4147-A177-3AD203B41FA5}">
                      <a16:colId xmlns:a16="http://schemas.microsoft.com/office/drawing/2014/main" val="74985201"/>
                    </a:ext>
                  </a:extLst>
                </a:gridCol>
                <a:gridCol w="6778912">
                  <a:extLst>
                    <a:ext uri="{9D8B030D-6E8A-4147-A177-3AD203B41FA5}">
                      <a16:colId xmlns:a16="http://schemas.microsoft.com/office/drawing/2014/main" val="339047228"/>
                    </a:ext>
                  </a:extLst>
                </a:gridCol>
              </a:tblGrid>
              <a:tr h="32334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Drafts</a:t>
                      </a:r>
                    </a:p>
                  </a:txBody>
                  <a:tcPr marR="152400" marT="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Txn-Token JAG Profile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draft-fletcher-transaction-token-chaining-profile</a:t>
                      </a:r>
                      <a:endParaRPr kumimoji="0" lang="en-US" altLang="zh-CN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000" marB="3600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Cross-Domain </a:t>
                      </a:r>
                      <a:r>
                        <a:rPr lang="en-US" sz="1800" b="1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</a:t>
                      </a:r>
                      <a:r>
                        <a:rPr lang="en-US" sz="18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Token</a:t>
                      </a:r>
                      <a:r>
                        <a:rPr lang="zh-CN" altLang="en-US" sz="18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（</a:t>
                      </a:r>
                      <a:r>
                        <a:rPr lang="en-US" altLang="zh-CN" sz="1800" b="1" i="1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draft</a:t>
                      </a:r>
                      <a:r>
                        <a:rPr lang="zh-CN" altLang="en-US" sz="18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）</a:t>
                      </a:r>
                      <a:endParaRPr lang="en-US" altLang="zh-CN" sz="1800" b="1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kumimoji="0" lang="en-US" altLang="zh-CN" sz="1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draft-</a:t>
                      </a:r>
                      <a:r>
                        <a:rPr kumimoji="0" lang="en-US" altLang="zh-CN" sz="12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liu</a:t>
                      </a:r>
                      <a:r>
                        <a:rPr kumimoji="0" lang="en-US" altLang="zh-CN" sz="1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-oauth-cross-domain-</a:t>
                      </a:r>
                      <a:r>
                        <a:rPr kumimoji="0" lang="en-US" altLang="zh-CN" sz="12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</a:t>
                      </a:r>
                      <a:r>
                        <a:rPr kumimoji="0" lang="en-US" altLang="zh-CN" sz="1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-token</a:t>
                      </a:r>
                      <a:endParaRPr lang="en-US" sz="2000" b="1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36000" marB="3600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9234"/>
                  </a:ext>
                </a:extLst>
              </a:tr>
              <a:tr h="91821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Txn-Token → JAG → Access Token 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RTTs)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 A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：</a:t>
                      </a:r>
                      <a:r>
                        <a:rPr lang="sv-SE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Txn-Token 1 -&gt; JAG -&gt; Access Token -&gt; Txn-Token 2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zh-CN" b="0" i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Same as JAG Profile. Direct composition of Identity Chaining + Txn-Token. Minimal changes.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259810"/>
                  </a:ext>
                </a:extLst>
              </a:tr>
              <a:tr h="9182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 B 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：</a:t>
                      </a:r>
                      <a:r>
                        <a:rPr lang="sv-SE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Txn-Token 1 -&gt; JAG -&gt; Txn-Token 2 (</a:t>
                      </a:r>
                      <a:r>
                        <a:rPr lang="sv-SE" altLang="zh-CN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</a:t>
                      </a:r>
                      <a:r>
                        <a:rPr lang="sv-SE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RTTs)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1800" b="0" i="1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JAG directly exchanged for Txn-Token. Saves 2 RTTs. Scalable. Requires extension that allow TTS to accept JAG as </a:t>
                      </a:r>
                      <a:r>
                        <a:rPr lang="en-US" altLang="zh-CN" sz="1800" b="0" i="1" kern="1200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subject_token</a:t>
                      </a:r>
                      <a:r>
                        <a:rPr lang="en-US" altLang="zh-CN" sz="1800" b="0" i="1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612424"/>
                  </a:ext>
                </a:extLst>
              </a:tr>
              <a:tr h="208826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Claims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 </a:t>
                      </a:r>
                      <a:r>
                        <a:rPr lang="fr-FR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(pass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immutable</a:t>
                      </a:r>
                      <a:r>
                        <a:rPr lang="fr-FR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tctx </a:t>
                      </a:r>
                      <a:r>
                        <a:rPr lang="fr-FR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fr-FR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 not pass</a:t>
                      </a:r>
                      <a:r>
                        <a:rPr lang="fr-FR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rctx</a:t>
                      </a:r>
                      <a:r>
                        <a:rPr lang="fr-FR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fr-FR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pass, minimized</a:t>
                      </a:r>
                      <a:r>
                        <a:rPr lang="fr-FR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req_wl </a:t>
                      </a:r>
                      <a:r>
                        <a:rPr lang="fr-FR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(do not pass)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altLang="zh-CN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txn </a:t>
                      </a:r>
                      <a:r>
                        <a:rPr lang="fr-FR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(pass,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immutable</a:t>
                      </a:r>
                      <a:r>
                        <a:rPr lang="fr-FR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altLang="zh-CN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tctx </a:t>
                      </a:r>
                      <a:r>
                        <a:rPr lang="fr-FR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(pass, minimized)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altLang="zh-CN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rctx</a:t>
                      </a:r>
                      <a:r>
                        <a:rPr lang="fr-FR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(pass, minimized)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altLang="zh-CN" b="0" dirty="0">
                          <a:solidFill>
                            <a:srgbClr val="31B5C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req_wl </a:t>
                      </a:r>
                      <a:r>
                        <a:rPr lang="fr-FR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(pass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zh-CN" altLang="en-US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each hop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appended,</a:t>
                      </a:r>
                      <a:r>
                        <a:rPr lang="fr-FR" altLang="zh-CN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minimized)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altLang="zh-CN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78457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491F7473-486C-44B5-9A09-AD12D14019C4}"/>
              </a:ext>
            </a:extLst>
          </p:cNvPr>
          <p:cNvSpPr txBox="1"/>
          <p:nvPr/>
        </p:nvSpPr>
        <p:spPr>
          <a:xfrm>
            <a:off x="411444" y="291837"/>
            <a:ext cx="1026041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Cross-Domain Task Context Propagation— Two solutions</a:t>
            </a:r>
            <a:endParaRPr lang="zh-CN" altLang="en-US" sz="27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8954D2-EB68-4B18-9D57-AE391663C129}"/>
              </a:ext>
            </a:extLst>
          </p:cNvPr>
          <p:cNvSpPr txBox="1"/>
          <p:nvPr/>
        </p:nvSpPr>
        <p:spPr>
          <a:xfrm>
            <a:off x="7704098" y="4203017"/>
            <a:ext cx="3700502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lvl="1">
              <a:spcBef>
                <a:spcPts val="500"/>
              </a:spcBef>
              <a:buClr>
                <a:srgbClr val="30B5C5"/>
              </a:buClr>
            </a:pPr>
            <a:r>
              <a:rPr lang="en-US" altLang="zh-C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Minimization: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MAY remove/redact claims </a:t>
            </a:r>
            <a:r>
              <a:rPr lang="en-US" altLang="zh-CN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b="0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tctx</a:t>
            </a:r>
            <a:r>
              <a:rPr lang="en-US" altLang="zh-CN" b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b="0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rctx</a:t>
            </a:r>
            <a:r>
              <a:rPr lang="en-US" altLang="zh-CN" b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b="0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req_wl</a:t>
            </a:r>
            <a:r>
              <a:rPr lang="en-US" altLang="zh-CN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needed downstream; log locally if audit required. </a:t>
            </a:r>
            <a:endParaRPr lang="en-US" altLang="zh-C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43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D31AD7B-6905-4B07-BD6F-698A2E205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855" y="2158760"/>
            <a:ext cx="11753021" cy="658004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Cross-Domain Task Context Propagation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069075F-4FA5-721E-A0A8-62481869247B}"/>
              </a:ext>
            </a:extLst>
          </p:cNvPr>
          <p:cNvSpPr txBox="1">
            <a:spLocks/>
          </p:cNvSpPr>
          <p:nvPr/>
        </p:nvSpPr>
        <p:spPr>
          <a:xfrm>
            <a:off x="926854" y="1293962"/>
            <a:ext cx="1175302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30B5C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Authorization Delegation</a:t>
            </a:r>
          </a:p>
        </p:txBody>
      </p:sp>
    </p:spTree>
    <p:extLst>
      <p:ext uri="{BB962C8B-B14F-4D97-AF65-F5344CB8AC3E}">
        <p14:creationId xmlns:p14="http://schemas.microsoft.com/office/powerpoint/2010/main" val="411979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F5507E-0121-4342-BEED-6A0DBFB95214}"/>
              </a:ext>
            </a:extLst>
          </p:cNvPr>
          <p:cNvSpPr txBox="1">
            <a:spLocks/>
          </p:cNvSpPr>
          <p:nvPr/>
        </p:nvSpPr>
        <p:spPr>
          <a:xfrm>
            <a:off x="437950" y="0"/>
            <a:ext cx="12012203" cy="797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Authorization Delegation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7239C-267F-4A07-97D5-6E227B4A6F5F}"/>
              </a:ext>
            </a:extLst>
          </p:cNvPr>
          <p:cNvSpPr/>
          <p:nvPr/>
        </p:nvSpPr>
        <p:spPr>
          <a:xfrm flipH="1">
            <a:off x="232123" y="120651"/>
            <a:ext cx="45719" cy="797964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5A139B-C7BA-4294-A27C-C9ADBDBA4CB1}"/>
              </a:ext>
            </a:extLst>
          </p:cNvPr>
          <p:cNvSpPr txBox="1"/>
          <p:nvPr/>
        </p:nvSpPr>
        <p:spPr>
          <a:xfrm>
            <a:off x="412672" y="935352"/>
            <a:ext cx="11420675" cy="106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500"/>
              </a:spcBef>
              <a:spcAft>
                <a:spcPts val="600"/>
              </a:spcAft>
              <a:buClr>
                <a:srgbClr val="30B5C5"/>
              </a:buClr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</a:t>
            </a:r>
            <a:r>
              <a:rPr lang="zh-CN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Since a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 task may consists of a batch of sub-tasks and requires a batch of authorization to different resources,</a:t>
            </a: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a new resource acces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 scenario appears:</a:t>
            </a:r>
          </a:p>
          <a:p>
            <a:pPr marL="0" lvl="1">
              <a:spcBef>
                <a:spcPts val="500"/>
              </a:spcBef>
              <a:spcAft>
                <a:spcPts val="600"/>
              </a:spcAft>
              <a:buClr>
                <a:srgbClr val="30B5C5"/>
              </a:buClr>
            </a:pPr>
            <a:r>
              <a:rPr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FFC7E7-C9E3-4D1E-B186-58AE33E3C7C4}"/>
              </a:ext>
            </a:extLst>
          </p:cNvPr>
          <p:cNvSpPr txBox="1"/>
          <p:nvPr/>
        </p:nvSpPr>
        <p:spPr>
          <a:xfrm>
            <a:off x="412672" y="1934330"/>
            <a:ext cx="32064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 leader-agent (</a:t>
            </a: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eg.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altLang="zh-CN" dirty="0">
                <a:latin typeface="Calibri" panose="020F0502020204030204" pitchFamily="34" charset="0"/>
                <a:cs typeface="Calibri" panose="020F0502020204030204" pitchFamily="34" charset="0"/>
              </a:rPr>
              <a:t>a principal personal assistant AI Agent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) coordinates multiple sub-agents to complete a task.</a:t>
            </a: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C1FC05FD-F7A3-40B0-96DC-F9105B4D6B4C}"/>
              </a:ext>
            </a:extLst>
          </p:cNvPr>
          <p:cNvGrpSpPr/>
          <p:nvPr/>
        </p:nvGrpSpPr>
        <p:grpSpPr>
          <a:xfrm>
            <a:off x="4214785" y="1706851"/>
            <a:ext cx="7103063" cy="1471809"/>
            <a:chOff x="3869737" y="1435371"/>
            <a:chExt cx="7610211" cy="1867932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EF5995E-E723-49A7-B2AC-339134393EEC}"/>
                </a:ext>
              </a:extLst>
            </p:cNvPr>
            <p:cNvSpPr/>
            <p:nvPr/>
          </p:nvSpPr>
          <p:spPr>
            <a:xfrm>
              <a:off x="7610397" y="1644190"/>
              <a:ext cx="2507514" cy="731025"/>
            </a:xfrm>
            <a:custGeom>
              <a:avLst/>
              <a:gdLst>
                <a:gd name="connsiteX0" fmla="*/ 0 w 2529840"/>
                <a:gd name="connsiteY0" fmla="*/ 662940 h 662940"/>
                <a:gd name="connsiteX1" fmla="*/ 99060 w 2529840"/>
                <a:gd name="connsiteY1" fmla="*/ 563880 h 662940"/>
                <a:gd name="connsiteX2" fmla="*/ 320040 w 2529840"/>
                <a:gd name="connsiteY2" fmla="*/ 182880 h 662940"/>
                <a:gd name="connsiteX3" fmla="*/ 1005840 w 2529840"/>
                <a:gd name="connsiteY3" fmla="*/ 30480 h 662940"/>
                <a:gd name="connsiteX4" fmla="*/ 2529840 w 2529840"/>
                <a:gd name="connsiteY4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9840" h="662940">
                  <a:moveTo>
                    <a:pt x="0" y="662940"/>
                  </a:moveTo>
                  <a:cubicBezTo>
                    <a:pt x="22860" y="653415"/>
                    <a:pt x="45720" y="643890"/>
                    <a:pt x="99060" y="563880"/>
                  </a:cubicBezTo>
                  <a:cubicBezTo>
                    <a:pt x="152400" y="483870"/>
                    <a:pt x="168910" y="271780"/>
                    <a:pt x="320040" y="182880"/>
                  </a:cubicBezTo>
                  <a:cubicBezTo>
                    <a:pt x="471170" y="93980"/>
                    <a:pt x="637540" y="60960"/>
                    <a:pt x="1005840" y="30480"/>
                  </a:cubicBezTo>
                  <a:cubicBezTo>
                    <a:pt x="1374140" y="0"/>
                    <a:pt x="1951990" y="0"/>
                    <a:pt x="2529840" y="0"/>
                  </a:cubicBezTo>
                </a:path>
              </a:pathLst>
            </a:custGeom>
            <a:noFill/>
            <a:ln w="34925">
              <a:solidFill>
                <a:srgbClr val="C00000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3DEBD48-5F05-4262-B2EB-4F08FC45500D}"/>
                </a:ext>
              </a:extLst>
            </p:cNvPr>
            <p:cNvSpPr/>
            <p:nvPr/>
          </p:nvSpPr>
          <p:spPr>
            <a:xfrm>
              <a:off x="5234988" y="2343903"/>
              <a:ext cx="2390648" cy="15529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30566FD-128F-41F1-AC50-DF79C8C864AC}"/>
                </a:ext>
              </a:extLst>
            </p:cNvPr>
            <p:cNvSpPr/>
            <p:nvPr/>
          </p:nvSpPr>
          <p:spPr>
            <a:xfrm>
              <a:off x="3869737" y="2156697"/>
              <a:ext cx="1365251" cy="5140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4940D31-0756-49A6-9027-87FEA44CFE4E}"/>
                </a:ext>
              </a:extLst>
            </p:cNvPr>
            <p:cNvSpPr/>
            <p:nvPr/>
          </p:nvSpPr>
          <p:spPr>
            <a:xfrm>
              <a:off x="5630146" y="2138969"/>
              <a:ext cx="1771651" cy="514052"/>
            </a:xfrm>
            <a:prstGeom prst="rect">
              <a:avLst/>
            </a:prstGeom>
            <a:solidFill>
              <a:srgbClr val="31B5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Leader-Agent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EF79259-A583-47C0-8B37-21DBE89B0992}"/>
                </a:ext>
              </a:extLst>
            </p:cNvPr>
            <p:cNvSpPr/>
            <p:nvPr/>
          </p:nvSpPr>
          <p:spPr>
            <a:xfrm>
              <a:off x="7872421" y="1435371"/>
              <a:ext cx="1771651" cy="514052"/>
            </a:xfrm>
            <a:prstGeom prst="rect">
              <a:avLst/>
            </a:prstGeom>
            <a:solidFill>
              <a:srgbClr val="31B5C6">
                <a:alpha val="7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Sub-Agent 1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14E89FF-9B00-4D33-8295-1878192BAFD0}"/>
                </a:ext>
              </a:extLst>
            </p:cNvPr>
            <p:cNvSpPr/>
            <p:nvPr/>
          </p:nvSpPr>
          <p:spPr>
            <a:xfrm>
              <a:off x="10114697" y="1435371"/>
              <a:ext cx="1365251" cy="5140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Resource 1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F18E680-2C68-4DD3-8153-BDBECC31295F}"/>
                </a:ext>
              </a:extLst>
            </p:cNvPr>
            <p:cNvSpPr/>
            <p:nvPr/>
          </p:nvSpPr>
          <p:spPr>
            <a:xfrm>
              <a:off x="10114696" y="2107712"/>
              <a:ext cx="1365251" cy="5140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Resource 2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46F0224-E203-44DE-8AF7-72276A49C30B}"/>
                </a:ext>
              </a:extLst>
            </p:cNvPr>
            <p:cNvSpPr/>
            <p:nvPr/>
          </p:nvSpPr>
          <p:spPr>
            <a:xfrm>
              <a:off x="10114696" y="2780053"/>
              <a:ext cx="1365251" cy="5140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Resource 3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14D4440D-47CF-4A07-A373-FE91E9D96F92}"/>
                </a:ext>
              </a:extLst>
            </p:cNvPr>
            <p:cNvSpPr/>
            <p:nvPr/>
          </p:nvSpPr>
          <p:spPr>
            <a:xfrm flipV="1">
              <a:off x="7585214" y="2447240"/>
              <a:ext cx="2555022" cy="670697"/>
            </a:xfrm>
            <a:custGeom>
              <a:avLst/>
              <a:gdLst>
                <a:gd name="connsiteX0" fmla="*/ 0 w 2529840"/>
                <a:gd name="connsiteY0" fmla="*/ 662940 h 662940"/>
                <a:gd name="connsiteX1" fmla="*/ 99060 w 2529840"/>
                <a:gd name="connsiteY1" fmla="*/ 563880 h 662940"/>
                <a:gd name="connsiteX2" fmla="*/ 320040 w 2529840"/>
                <a:gd name="connsiteY2" fmla="*/ 182880 h 662940"/>
                <a:gd name="connsiteX3" fmla="*/ 1005840 w 2529840"/>
                <a:gd name="connsiteY3" fmla="*/ 30480 h 662940"/>
                <a:gd name="connsiteX4" fmla="*/ 2529840 w 2529840"/>
                <a:gd name="connsiteY4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9840" h="662940">
                  <a:moveTo>
                    <a:pt x="0" y="662940"/>
                  </a:moveTo>
                  <a:cubicBezTo>
                    <a:pt x="22860" y="653415"/>
                    <a:pt x="45720" y="643890"/>
                    <a:pt x="99060" y="563880"/>
                  </a:cubicBezTo>
                  <a:cubicBezTo>
                    <a:pt x="152400" y="483870"/>
                    <a:pt x="168910" y="271780"/>
                    <a:pt x="320040" y="182880"/>
                  </a:cubicBezTo>
                  <a:cubicBezTo>
                    <a:pt x="471170" y="93980"/>
                    <a:pt x="637540" y="60960"/>
                    <a:pt x="1005840" y="30480"/>
                  </a:cubicBezTo>
                  <a:cubicBezTo>
                    <a:pt x="1374140" y="0"/>
                    <a:pt x="1951990" y="0"/>
                    <a:pt x="2529840" y="0"/>
                  </a:cubicBezTo>
                </a:path>
              </a:pathLst>
            </a:custGeom>
            <a:noFill/>
            <a:ln w="34925">
              <a:solidFill>
                <a:srgbClr val="C00000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D51A729-2FFB-4E04-8A9E-82826D1BFD91}"/>
                </a:ext>
              </a:extLst>
            </p:cNvPr>
            <p:cNvSpPr/>
            <p:nvPr/>
          </p:nvSpPr>
          <p:spPr>
            <a:xfrm>
              <a:off x="7868385" y="2789251"/>
              <a:ext cx="1771651" cy="514052"/>
            </a:xfrm>
            <a:prstGeom prst="rect">
              <a:avLst/>
            </a:prstGeom>
            <a:solidFill>
              <a:srgbClr val="31B5C6">
                <a:alpha val="7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Sub-Agent 3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01891EE-2B1A-427D-B845-7DA8F2514F89}"/>
                </a:ext>
              </a:extLst>
            </p:cNvPr>
            <p:cNvCxnSpPr>
              <a:cxnSpLocks/>
              <a:stCxn id="22" idx="3"/>
              <a:endCxn id="22" idx="3"/>
            </p:cNvCxnSpPr>
            <p:nvPr/>
          </p:nvCxnSpPr>
          <p:spPr>
            <a:xfrm>
              <a:off x="7625636" y="2421553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684F451F-33D2-4FE0-9FC3-DECCBF160B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8012" y="2364738"/>
              <a:ext cx="2545643" cy="56814"/>
            </a:xfrm>
            <a:prstGeom prst="straightConnector1">
              <a:avLst/>
            </a:prstGeom>
            <a:ln w="34925">
              <a:solidFill>
                <a:srgbClr val="C00000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BDD2D90-8757-4783-A301-4E2D5750897C}"/>
                </a:ext>
              </a:extLst>
            </p:cNvPr>
            <p:cNvSpPr/>
            <p:nvPr/>
          </p:nvSpPr>
          <p:spPr>
            <a:xfrm>
              <a:off x="7872421" y="2112311"/>
              <a:ext cx="1771651" cy="514052"/>
            </a:xfrm>
            <a:prstGeom prst="rect">
              <a:avLst/>
            </a:prstGeom>
            <a:solidFill>
              <a:srgbClr val="31B5C6">
                <a:alpha val="7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Sub-Agent 2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63B237ED-234A-4AFC-B2B0-604D1E29AC3C}"/>
              </a:ext>
            </a:extLst>
          </p:cNvPr>
          <p:cNvSpPr txBox="1"/>
          <p:nvPr/>
        </p:nvSpPr>
        <p:spPr>
          <a:xfrm>
            <a:off x="412672" y="5903681"/>
            <a:ext cx="12280427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500"/>
              </a:spcBef>
              <a:buClr>
                <a:srgbClr val="30B5C5"/>
              </a:buClr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Core Challenge:</a:t>
            </a:r>
          </a:p>
          <a:p>
            <a:pPr marL="0" lvl="1">
              <a:spcBef>
                <a:spcPts val="500"/>
              </a:spcBef>
              <a:spcAft>
                <a:spcPts val="600"/>
              </a:spcAft>
              <a:buClr>
                <a:srgbClr val="30B5C5"/>
              </a:buClr>
            </a:pPr>
            <a:r>
              <a:rPr lang="en-US" altLang="zh-CN" sz="1600" b="1" i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One-Time Batch Authorization 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(to avoid repeated user </a:t>
            </a:r>
            <a:r>
              <a:rPr lang="en-US" altLang="zh-CN" sz="1400" b="1" i="0" dirty="0" err="1"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interations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b="1" i="0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Downscoped</a:t>
            </a:r>
            <a:r>
              <a:rPr lang="en-US" altLang="zh-CN" sz="1600" b="1" i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Delegation</a:t>
            </a:r>
            <a:r>
              <a:rPr lang="en-US" altLang="zh-CN" b="1" i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(to  ensure </a:t>
            </a:r>
            <a:r>
              <a:rPr lang="en-US" altLang="zh-CN" sz="1400" b="1" dirty="0">
                <a:solidFill>
                  <a:srgbClr val="0F11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 sub-agent accesses ONLY its resource)</a:t>
            </a:r>
            <a:endParaRPr lang="en-US" altLang="zh-C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96FF507-8689-4374-A4BA-DB1E3FB8A90F}"/>
              </a:ext>
            </a:extLst>
          </p:cNvPr>
          <p:cNvSpPr txBox="1"/>
          <p:nvPr/>
        </p:nvSpPr>
        <p:spPr>
          <a:xfrm>
            <a:off x="347182" y="3425133"/>
            <a:ext cx="12280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500"/>
              </a:spcBef>
              <a:spcAft>
                <a:spcPts val="600"/>
              </a:spcAft>
              <a:buClr>
                <a:srgbClr val="30B5C5"/>
              </a:buClr>
              <a:buFont typeface="Wingdings" panose="05000000000000000000" pitchFamily="2" charset="2"/>
              <a:buChar char="p"/>
            </a:pPr>
            <a:r>
              <a:rPr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Use Case</a:t>
            </a:r>
            <a:r>
              <a:rPr lang="zh-CN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81C3B91B-FBD7-44E2-934B-68B564E936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6" t="17221" r="-416" b="753"/>
          <a:stretch/>
        </p:blipFill>
        <p:spPr>
          <a:xfrm>
            <a:off x="4016825" y="3624246"/>
            <a:ext cx="7652625" cy="2117041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03EFA8A2-358E-4278-A98F-0C41C69F34C9}"/>
              </a:ext>
            </a:extLst>
          </p:cNvPr>
          <p:cNvSpPr txBox="1"/>
          <p:nvPr/>
        </p:nvSpPr>
        <p:spPr>
          <a:xfrm>
            <a:off x="387894" y="3888555"/>
            <a:ext cx="30960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 cross-bank Coupon Agent can coordinate multiple bank-specific sub-agents to calculate the best discount from all of the user’s bank accounts for a single payment. 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376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F5507E-0121-4342-BEED-6A0DBFB95214}"/>
              </a:ext>
            </a:extLst>
          </p:cNvPr>
          <p:cNvSpPr txBox="1">
            <a:spLocks/>
          </p:cNvSpPr>
          <p:nvPr/>
        </p:nvSpPr>
        <p:spPr>
          <a:xfrm>
            <a:off x="437950" y="0"/>
            <a:ext cx="12012203" cy="797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7239C-267F-4A07-97D5-6E227B4A6F5F}"/>
              </a:ext>
            </a:extLst>
          </p:cNvPr>
          <p:cNvSpPr/>
          <p:nvPr/>
        </p:nvSpPr>
        <p:spPr>
          <a:xfrm flipH="1">
            <a:off x="232123" y="120651"/>
            <a:ext cx="45719" cy="797964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3746D06-50E7-4963-89B2-7D48E0ACA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57" y="914891"/>
            <a:ext cx="5019675" cy="507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2352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1" indent="-342900" eaLnBrk="1" fontAlgn="base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Clr>
                <a:srgbClr val="30B5C5"/>
              </a:buClr>
              <a:buSzTx/>
              <a:buFont typeface="Wingdings" panose="05000000000000000000" pitchFamily="2" charset="2"/>
              <a:buChar char="p"/>
              <a:tabLst/>
            </a:pPr>
            <a:r>
              <a:rPr lang="zh-CN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What Existing OAuth Standards Provide</a:t>
            </a: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zh-CN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A47B196D-47F8-4D74-8452-EB8150E7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695" y="4563682"/>
            <a:ext cx="12894961" cy="176194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52352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1" eaLnBrk="1" fontAlgn="base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Clr>
                <a:srgbClr val="FF0000"/>
              </a:buClr>
              <a:buSzTx/>
              <a:tabLst/>
            </a:pP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Gap:</a:t>
            </a:r>
          </a:p>
          <a:p>
            <a:pPr marL="742950" lvl="2" indent="-285750" eaLnBrk="1" hangingPunct="1"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RAR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enables </a:t>
            </a:r>
            <a:r>
              <a:rPr lang="en-US" altLang="zh-CN" b="1" dirty="0">
                <a:solidFill>
                  <a:srgbClr val="30B5C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one-time batch authorization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of permissions, but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cannot bind the permissions to different designated actors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742950" lvl="2" indent="-285750" eaLnBrk="1" hangingPunct="1"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Token Exchange 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quote-cjk-patch"/>
              </a:rPr>
              <a:t>enables </a:t>
            </a:r>
            <a:r>
              <a:rPr lang="en-US" altLang="zh-CN" b="1" i="0" dirty="0">
                <a:solidFill>
                  <a:srgbClr val="30B5C5"/>
                </a:solidFill>
                <a:effectLst/>
                <a:latin typeface="quote-cjk-patch"/>
              </a:rPr>
              <a:t>delegation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quote-cjk-patch"/>
              </a:rPr>
              <a:t>, but </a:t>
            </a:r>
            <a:r>
              <a:rPr lang="en-US" altLang="zh-CN" b="1" i="0" dirty="0">
                <a:solidFill>
                  <a:srgbClr val="C00000"/>
                </a:solidFill>
                <a:effectLst/>
                <a:latin typeface="quote-cjk-patch"/>
              </a:rPr>
              <a:t>cannot express which subset of permissions is delegated to which actor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2" indent="-285750" eaLnBrk="1" hangingPunct="1">
              <a:spcBef>
                <a:spcPts val="500"/>
              </a:spcBef>
              <a:spcAft>
                <a:spcPts val="600"/>
              </a:spcAft>
              <a:buClr>
                <a:srgbClr val="30B5C5"/>
              </a:buClr>
              <a:buFont typeface="Arial" panose="020B0604020202020204" pitchFamily="34" charset="0"/>
              <a:buChar char="•"/>
            </a:pPr>
            <a:endParaRPr lang="zh-C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6A06EA8-BD57-4527-B1E8-B59C2007E5FA}"/>
              </a:ext>
            </a:extLst>
          </p:cNvPr>
          <p:cNvGrpSpPr/>
          <p:nvPr/>
        </p:nvGrpSpPr>
        <p:grpSpPr>
          <a:xfrm>
            <a:off x="1842817" y="2597114"/>
            <a:ext cx="7103063" cy="1471809"/>
            <a:chOff x="3869737" y="1435371"/>
            <a:chExt cx="7610211" cy="1867932"/>
          </a:xfrm>
        </p:grpSpPr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C22F7137-08AF-4A0A-9FEC-52BE23BCDB86}"/>
                </a:ext>
              </a:extLst>
            </p:cNvPr>
            <p:cNvSpPr/>
            <p:nvPr/>
          </p:nvSpPr>
          <p:spPr>
            <a:xfrm>
              <a:off x="7610397" y="1644190"/>
              <a:ext cx="2507514" cy="731025"/>
            </a:xfrm>
            <a:custGeom>
              <a:avLst/>
              <a:gdLst>
                <a:gd name="connsiteX0" fmla="*/ 0 w 2529840"/>
                <a:gd name="connsiteY0" fmla="*/ 662940 h 662940"/>
                <a:gd name="connsiteX1" fmla="*/ 99060 w 2529840"/>
                <a:gd name="connsiteY1" fmla="*/ 563880 h 662940"/>
                <a:gd name="connsiteX2" fmla="*/ 320040 w 2529840"/>
                <a:gd name="connsiteY2" fmla="*/ 182880 h 662940"/>
                <a:gd name="connsiteX3" fmla="*/ 1005840 w 2529840"/>
                <a:gd name="connsiteY3" fmla="*/ 30480 h 662940"/>
                <a:gd name="connsiteX4" fmla="*/ 2529840 w 2529840"/>
                <a:gd name="connsiteY4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9840" h="662940">
                  <a:moveTo>
                    <a:pt x="0" y="662940"/>
                  </a:moveTo>
                  <a:cubicBezTo>
                    <a:pt x="22860" y="653415"/>
                    <a:pt x="45720" y="643890"/>
                    <a:pt x="99060" y="563880"/>
                  </a:cubicBezTo>
                  <a:cubicBezTo>
                    <a:pt x="152400" y="483870"/>
                    <a:pt x="168910" y="271780"/>
                    <a:pt x="320040" y="182880"/>
                  </a:cubicBezTo>
                  <a:cubicBezTo>
                    <a:pt x="471170" y="93980"/>
                    <a:pt x="637540" y="60960"/>
                    <a:pt x="1005840" y="30480"/>
                  </a:cubicBezTo>
                  <a:cubicBezTo>
                    <a:pt x="1374140" y="0"/>
                    <a:pt x="1951990" y="0"/>
                    <a:pt x="2529840" y="0"/>
                  </a:cubicBezTo>
                </a:path>
              </a:pathLst>
            </a:custGeom>
            <a:noFill/>
            <a:ln w="34925">
              <a:solidFill>
                <a:schemeClr val="bg1">
                  <a:lumMod val="50000"/>
                </a:schemeClr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AF38D2AB-238E-45B3-B954-CAA3397EEAA1}"/>
                </a:ext>
              </a:extLst>
            </p:cNvPr>
            <p:cNvSpPr/>
            <p:nvPr/>
          </p:nvSpPr>
          <p:spPr>
            <a:xfrm>
              <a:off x="5234988" y="2343903"/>
              <a:ext cx="2390648" cy="1552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3D8FF168-DF49-45A5-AF83-A5096AC8FB51}"/>
                </a:ext>
              </a:extLst>
            </p:cNvPr>
            <p:cNvSpPr/>
            <p:nvPr/>
          </p:nvSpPr>
          <p:spPr>
            <a:xfrm>
              <a:off x="3869737" y="2156697"/>
              <a:ext cx="1365251" cy="51405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E4B059F3-487E-45A9-A7B9-CA10F1E8A7AB}"/>
                </a:ext>
              </a:extLst>
            </p:cNvPr>
            <p:cNvSpPr/>
            <p:nvPr/>
          </p:nvSpPr>
          <p:spPr>
            <a:xfrm>
              <a:off x="5630146" y="2138969"/>
              <a:ext cx="1771651" cy="514052"/>
            </a:xfrm>
            <a:prstGeom prst="rect">
              <a:avLst/>
            </a:prstGeom>
            <a:solidFill>
              <a:srgbClr val="31B5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Leader-Agent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E7F3D3BB-F963-447C-BCB1-0799EBF89723}"/>
                </a:ext>
              </a:extLst>
            </p:cNvPr>
            <p:cNvSpPr/>
            <p:nvPr/>
          </p:nvSpPr>
          <p:spPr>
            <a:xfrm>
              <a:off x="7872421" y="1435371"/>
              <a:ext cx="1771651" cy="514052"/>
            </a:xfrm>
            <a:prstGeom prst="rect">
              <a:avLst/>
            </a:prstGeom>
            <a:solidFill>
              <a:srgbClr val="31B5C6">
                <a:alpha val="7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Sub-Agent 1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5B39249-88CE-4D4E-9853-7E1CC77C50BB}"/>
                </a:ext>
              </a:extLst>
            </p:cNvPr>
            <p:cNvSpPr/>
            <p:nvPr/>
          </p:nvSpPr>
          <p:spPr>
            <a:xfrm>
              <a:off x="10114697" y="1435371"/>
              <a:ext cx="1365251" cy="5140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Resource 1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A691BD17-00BB-4D97-BD3E-EF6A703A2DD3}"/>
                </a:ext>
              </a:extLst>
            </p:cNvPr>
            <p:cNvSpPr/>
            <p:nvPr/>
          </p:nvSpPr>
          <p:spPr>
            <a:xfrm>
              <a:off x="10114696" y="2107712"/>
              <a:ext cx="1365251" cy="5140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Resource 2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968043B6-A4B6-4EC0-87F5-E4282B47B843}"/>
                </a:ext>
              </a:extLst>
            </p:cNvPr>
            <p:cNvSpPr/>
            <p:nvPr/>
          </p:nvSpPr>
          <p:spPr>
            <a:xfrm>
              <a:off x="10114696" y="2780053"/>
              <a:ext cx="1365251" cy="5140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Resource 3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0CD12FF5-6BD7-4DA2-9674-43C93D0EE85B}"/>
                </a:ext>
              </a:extLst>
            </p:cNvPr>
            <p:cNvSpPr/>
            <p:nvPr/>
          </p:nvSpPr>
          <p:spPr>
            <a:xfrm flipV="1">
              <a:off x="7585214" y="2447240"/>
              <a:ext cx="2555022" cy="670697"/>
            </a:xfrm>
            <a:custGeom>
              <a:avLst/>
              <a:gdLst>
                <a:gd name="connsiteX0" fmla="*/ 0 w 2529840"/>
                <a:gd name="connsiteY0" fmla="*/ 662940 h 662940"/>
                <a:gd name="connsiteX1" fmla="*/ 99060 w 2529840"/>
                <a:gd name="connsiteY1" fmla="*/ 563880 h 662940"/>
                <a:gd name="connsiteX2" fmla="*/ 320040 w 2529840"/>
                <a:gd name="connsiteY2" fmla="*/ 182880 h 662940"/>
                <a:gd name="connsiteX3" fmla="*/ 1005840 w 2529840"/>
                <a:gd name="connsiteY3" fmla="*/ 30480 h 662940"/>
                <a:gd name="connsiteX4" fmla="*/ 2529840 w 2529840"/>
                <a:gd name="connsiteY4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9840" h="662940">
                  <a:moveTo>
                    <a:pt x="0" y="662940"/>
                  </a:moveTo>
                  <a:cubicBezTo>
                    <a:pt x="22860" y="653415"/>
                    <a:pt x="45720" y="643890"/>
                    <a:pt x="99060" y="563880"/>
                  </a:cubicBezTo>
                  <a:cubicBezTo>
                    <a:pt x="152400" y="483870"/>
                    <a:pt x="168910" y="271780"/>
                    <a:pt x="320040" y="182880"/>
                  </a:cubicBezTo>
                  <a:cubicBezTo>
                    <a:pt x="471170" y="93980"/>
                    <a:pt x="637540" y="60960"/>
                    <a:pt x="1005840" y="30480"/>
                  </a:cubicBezTo>
                  <a:cubicBezTo>
                    <a:pt x="1374140" y="0"/>
                    <a:pt x="1951990" y="0"/>
                    <a:pt x="2529840" y="0"/>
                  </a:cubicBezTo>
                </a:path>
              </a:pathLst>
            </a:custGeom>
            <a:noFill/>
            <a:ln w="34925">
              <a:solidFill>
                <a:schemeClr val="bg1">
                  <a:lumMod val="50000"/>
                </a:schemeClr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45BC684B-0BFF-4698-80D3-8C8217064D82}"/>
                </a:ext>
              </a:extLst>
            </p:cNvPr>
            <p:cNvSpPr/>
            <p:nvPr/>
          </p:nvSpPr>
          <p:spPr>
            <a:xfrm>
              <a:off x="7868385" y="2789251"/>
              <a:ext cx="1771651" cy="514052"/>
            </a:xfrm>
            <a:prstGeom prst="rect">
              <a:avLst/>
            </a:prstGeom>
            <a:solidFill>
              <a:srgbClr val="31B5C6">
                <a:alpha val="7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Sub-Agent 3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28DA27A3-BF40-4754-8888-FE1675198C78}"/>
                </a:ext>
              </a:extLst>
            </p:cNvPr>
            <p:cNvCxnSpPr>
              <a:cxnSpLocks/>
              <a:stCxn id="72" idx="3"/>
              <a:endCxn id="72" idx="3"/>
            </p:cNvCxnSpPr>
            <p:nvPr/>
          </p:nvCxnSpPr>
          <p:spPr>
            <a:xfrm>
              <a:off x="7625636" y="2421553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497820BE-F693-4D8D-8A81-8690F04D9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8012" y="2364738"/>
              <a:ext cx="2545643" cy="56814"/>
            </a:xfrm>
            <a:prstGeom prst="straightConnector1">
              <a:avLst/>
            </a:prstGeom>
            <a:ln w="34925">
              <a:solidFill>
                <a:schemeClr val="bg1">
                  <a:lumMod val="50000"/>
                </a:schemeClr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9F771F90-4870-4FC0-946C-724465127DBA}"/>
                </a:ext>
              </a:extLst>
            </p:cNvPr>
            <p:cNvSpPr/>
            <p:nvPr/>
          </p:nvSpPr>
          <p:spPr>
            <a:xfrm>
              <a:off x="7872421" y="2112311"/>
              <a:ext cx="1771651" cy="514052"/>
            </a:xfrm>
            <a:prstGeom prst="rect">
              <a:avLst/>
            </a:prstGeom>
            <a:solidFill>
              <a:srgbClr val="31B5C6">
                <a:alpha val="7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Sub-Agent 2</a:t>
              </a:r>
              <a:endPara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1" name="椭圆 20">
            <a:extLst>
              <a:ext uri="{FF2B5EF4-FFF2-40B4-BE49-F238E27FC236}">
                <a16:creationId xmlns:a16="http://schemas.microsoft.com/office/drawing/2014/main" id="{FC65DC39-CFC4-4A26-838E-A797C41F3A41}"/>
              </a:ext>
            </a:extLst>
          </p:cNvPr>
          <p:cNvSpPr/>
          <p:nvPr/>
        </p:nvSpPr>
        <p:spPr>
          <a:xfrm>
            <a:off x="3281558" y="2895181"/>
            <a:ext cx="1920489" cy="963975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99EF65B5-F374-4F0E-B0F5-F58113D5A3AA}"/>
              </a:ext>
            </a:extLst>
          </p:cNvPr>
          <p:cNvSpPr/>
          <p:nvPr/>
        </p:nvSpPr>
        <p:spPr>
          <a:xfrm>
            <a:off x="5348421" y="2458116"/>
            <a:ext cx="2112556" cy="665012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C758E8E-B677-4929-AB90-26B33512B869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1081063" y="2774692"/>
            <a:ext cx="2481744" cy="261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FBF6C7AC-53BA-454E-8404-33A5C77A68D7}"/>
              </a:ext>
            </a:extLst>
          </p:cNvPr>
          <p:cNvSpPr txBox="1"/>
          <p:nvPr/>
        </p:nvSpPr>
        <p:spPr>
          <a:xfrm>
            <a:off x="630740" y="1636934"/>
            <a:ext cx="48366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OAuth 2.0 Rich Authorization Request </a:t>
            </a:r>
            <a:r>
              <a:rPr lang="zh-CN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RAR</a:t>
            </a:r>
            <a:r>
              <a:rPr lang="zh-CN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[RFC9396]</a:t>
            </a: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26BCEC4A-8E33-4818-83E9-4A9EDF8A8FB4}"/>
              </a:ext>
            </a:extLst>
          </p:cNvPr>
          <p:cNvCxnSpPr>
            <a:cxnSpLocks/>
            <a:endCxn id="95" idx="1"/>
          </p:cNvCxnSpPr>
          <p:nvPr/>
        </p:nvCxnSpPr>
        <p:spPr>
          <a:xfrm flipV="1">
            <a:off x="7317399" y="2232502"/>
            <a:ext cx="1187449" cy="401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CD4FBAD4-B348-4F5E-B0C3-E1582DBA0931}"/>
              </a:ext>
            </a:extLst>
          </p:cNvPr>
          <p:cNvSpPr txBox="1"/>
          <p:nvPr/>
        </p:nvSpPr>
        <p:spPr>
          <a:xfrm>
            <a:off x="8504848" y="1687364"/>
            <a:ext cx="32609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OAuth 2.0 Token Exchange [RFC8693]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1802571-5CD7-4F8B-B583-EBF9F5F847B3}"/>
              </a:ext>
            </a:extLst>
          </p:cNvPr>
          <p:cNvSpPr/>
          <p:nvPr/>
        </p:nvSpPr>
        <p:spPr>
          <a:xfrm>
            <a:off x="4909647" y="2804655"/>
            <a:ext cx="814594" cy="1250704"/>
          </a:xfrm>
          <a:prstGeom prst="ellipse">
            <a:avLst/>
          </a:prstGeom>
          <a:solidFill>
            <a:srgbClr val="FF0000">
              <a:alpha val="34000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4D6CCD9-A188-4A56-BE88-A64B022D3098}"/>
              </a:ext>
            </a:extLst>
          </p:cNvPr>
          <p:cNvSpPr txBox="1"/>
          <p:nvPr/>
        </p:nvSpPr>
        <p:spPr>
          <a:xfrm>
            <a:off x="618006" y="2181224"/>
            <a:ext cx="4716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</a:t>
            </a:r>
            <a:r>
              <a:rPr lang="en-US" altLang="zh-CN" sz="1600" b="0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authorization_details</a:t>
            </a:r>
            <a:r>
              <a:rPr lang="en-US" altLang="zh-CN" sz="1600" b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US" altLang="zh-C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 requesting a</a:t>
            </a:r>
            <a:r>
              <a:rPr lang="zh-CN" altLang="en-US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of fine-grained permissions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A04C297-8F6B-4185-B75E-1D1DC8B3CDAF}"/>
              </a:ext>
            </a:extLst>
          </p:cNvPr>
          <p:cNvSpPr txBox="1"/>
          <p:nvPr/>
        </p:nvSpPr>
        <p:spPr>
          <a:xfrm>
            <a:off x="8504848" y="1940114"/>
            <a:ext cx="3707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the only actor via the </a:t>
            </a:r>
            <a:r>
              <a:rPr lang="en-US" altLang="zh-CN" sz="1600" b="0" dirty="0" err="1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may_act</a:t>
            </a:r>
            <a:r>
              <a:rPr lang="en-US" altLang="zh-CN" sz="1600" b="0" dirty="0">
                <a:solidFill>
                  <a:srgbClr val="31B5C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claim.</a:t>
            </a:r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F1BDFD4-368A-4F45-A8EC-69BA93A4629F}"/>
              </a:ext>
            </a:extLst>
          </p:cNvPr>
          <p:cNvCxnSpPr>
            <a:cxnSpLocks/>
          </p:cNvCxnSpPr>
          <p:nvPr/>
        </p:nvCxnSpPr>
        <p:spPr>
          <a:xfrm flipH="1">
            <a:off x="927100" y="3851120"/>
            <a:ext cx="4376871" cy="9748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0589961-0BCB-8C57-03C5-FE93B72AFEBF}"/>
              </a:ext>
            </a:extLst>
          </p:cNvPr>
          <p:cNvSpPr txBox="1">
            <a:spLocks/>
          </p:cNvSpPr>
          <p:nvPr/>
        </p:nvSpPr>
        <p:spPr>
          <a:xfrm>
            <a:off x="438813" y="5562"/>
            <a:ext cx="12012203" cy="797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Authorization Delegation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r>
              <a:rPr lang="en-US" altLang="zh-CN" sz="2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239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1EDD52F-3C50-4259-AA6E-832608547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84542"/>
              </p:ext>
            </p:extLst>
          </p:nvPr>
        </p:nvGraphicFramePr>
        <p:xfrm>
          <a:off x="441386" y="1581418"/>
          <a:ext cx="10614960" cy="5099992"/>
        </p:xfrm>
        <a:graphic>
          <a:graphicData uri="http://schemas.openxmlformats.org/drawingml/2006/table">
            <a:tbl>
              <a:tblPr/>
              <a:tblGrid>
                <a:gridCol w="5243980">
                  <a:extLst>
                    <a:ext uri="{9D8B030D-6E8A-4147-A177-3AD203B41FA5}">
                      <a16:colId xmlns:a16="http://schemas.microsoft.com/office/drawing/2014/main" val="74985201"/>
                    </a:ext>
                  </a:extLst>
                </a:gridCol>
                <a:gridCol w="5370980">
                  <a:extLst>
                    <a:ext uri="{9D8B030D-6E8A-4147-A177-3AD203B41FA5}">
                      <a16:colId xmlns:a16="http://schemas.microsoft.com/office/drawing/2014/main" val="339047228"/>
                    </a:ext>
                  </a:extLst>
                </a:gridCol>
              </a:tblGrid>
              <a:tr h="56572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OAuth 2.0 Token Exchange </a:t>
                      </a:r>
                      <a:r>
                        <a:rPr lang="en-US" altLang="zh-CN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[RFC8693]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quote-cjk-patch"/>
                        </a:rPr>
                        <a:t>This draft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9234"/>
                  </a:ext>
                </a:extLst>
              </a:tr>
              <a:tr h="3300789"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177244"/>
                  </a:ext>
                </a:extLst>
              </a:tr>
              <a:tr h="1233474"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Leader agent can 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only delegate the permission to A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Leader agent can 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delegate one</a:t>
                      </a:r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permission to A;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                  and delegate another permission to B;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                   ……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47066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BEF5507E-0121-4342-BEED-6A0DBFB95214}"/>
              </a:ext>
            </a:extLst>
          </p:cNvPr>
          <p:cNvSpPr txBox="1">
            <a:spLocks/>
          </p:cNvSpPr>
          <p:nvPr/>
        </p:nvSpPr>
        <p:spPr>
          <a:xfrm>
            <a:off x="448091" y="470779"/>
            <a:ext cx="12012203" cy="797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</a:t>
            </a:r>
            <a:r>
              <a:rPr lang="en-US" altLang="zh-CN" sz="2800" b="1" dirty="0">
                <a:solidFill>
                  <a:srgbClr val="30B5C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may_act </a:t>
            </a:r>
            <a:r>
              <a:rPr lang="en-US" altLang="zh-CN" sz="2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Delegation to</a:t>
            </a:r>
            <a:r>
              <a:rPr lang="zh-CN" altLang="en-US" sz="28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en-US" altLang="zh-CN" sz="2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Downstream </a:t>
            </a:r>
            <a:r>
              <a:rPr lang="en-US" altLang="zh-CN" sz="28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Sub-agent</a:t>
            </a:r>
            <a:endParaRPr lang="en-US" sz="2800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7239C-267F-4A07-97D5-6E227B4A6F5F}"/>
              </a:ext>
            </a:extLst>
          </p:cNvPr>
          <p:cNvSpPr/>
          <p:nvPr/>
        </p:nvSpPr>
        <p:spPr>
          <a:xfrm flipH="1">
            <a:off x="232123" y="120651"/>
            <a:ext cx="45719" cy="797964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D44D0B-A71E-44FC-9372-678E50C5F32E}"/>
              </a:ext>
            </a:extLst>
          </p:cNvPr>
          <p:cNvSpPr/>
          <p:nvPr/>
        </p:nvSpPr>
        <p:spPr>
          <a:xfrm>
            <a:off x="821704" y="3276601"/>
            <a:ext cx="4459384" cy="8948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C9E14E-CA74-4F32-AF1B-614CCDF347B4}"/>
              </a:ext>
            </a:extLst>
          </p:cNvPr>
          <p:cNvSpPr/>
          <p:nvPr/>
        </p:nvSpPr>
        <p:spPr>
          <a:xfrm>
            <a:off x="5924681" y="3192388"/>
            <a:ext cx="4839624" cy="12018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8F0534-3CAC-4062-A0AB-12561E977A80}"/>
              </a:ext>
            </a:extLst>
          </p:cNvPr>
          <p:cNvSpPr/>
          <p:nvPr/>
        </p:nvSpPr>
        <p:spPr>
          <a:xfrm>
            <a:off x="5924680" y="4431883"/>
            <a:ext cx="4839625" cy="9875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F7DBD2-52BC-3CB4-8FC2-9790C0001E4C}"/>
              </a:ext>
            </a:extLst>
          </p:cNvPr>
          <p:cNvSpPr txBox="1"/>
          <p:nvPr/>
        </p:nvSpPr>
        <p:spPr>
          <a:xfrm>
            <a:off x="691092" y="2246536"/>
            <a:ext cx="45899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600" b="0" i="0" dirty="0">
              <a:solidFill>
                <a:srgbClr val="191919"/>
              </a:solidFill>
              <a:effectLst/>
              <a:latin typeface="Huawei Sans"/>
            </a:endParaRPr>
          </a:p>
          <a:p>
            <a:r>
              <a:rPr lang="en-US" altLang="zh-CN" sz="1600" b="0" i="0" dirty="0">
                <a:solidFill>
                  <a:srgbClr val="191919"/>
                </a:solidFill>
                <a:effectLst/>
                <a:latin typeface="Huawei Sans"/>
              </a:rPr>
              <a:t>  "</a:t>
            </a:r>
            <a:r>
              <a:rPr lang="en-US" altLang="zh-CN" sz="1600" b="0" i="0" dirty="0" err="1">
                <a:solidFill>
                  <a:srgbClr val="191919"/>
                </a:solidFill>
                <a:effectLst/>
                <a:latin typeface="Huawei Sans"/>
              </a:rPr>
              <a:t>aud</a:t>
            </a:r>
            <a:r>
              <a:rPr lang="en-US" altLang="zh-CN" sz="1600" b="0" i="0" dirty="0">
                <a:solidFill>
                  <a:srgbClr val="191919"/>
                </a:solidFill>
                <a:effectLst/>
                <a:latin typeface="Huawei Sans"/>
              </a:rPr>
              <a:t>": "https://consumer.example.com",</a:t>
            </a:r>
          </a:p>
          <a:p>
            <a:r>
              <a:rPr lang="en-US" altLang="zh-CN" sz="1600" b="0" i="0" dirty="0">
                <a:solidFill>
                  <a:srgbClr val="191919"/>
                </a:solidFill>
                <a:effectLst/>
                <a:latin typeface="Huawei Sans"/>
              </a:rPr>
              <a:t>  "</a:t>
            </a:r>
            <a:r>
              <a:rPr lang="en-US" altLang="zh-CN" sz="1600" b="0" i="0" dirty="0" err="1">
                <a:solidFill>
                  <a:srgbClr val="191919"/>
                </a:solidFill>
                <a:effectLst/>
                <a:latin typeface="Huawei Sans"/>
              </a:rPr>
              <a:t>iss</a:t>
            </a:r>
            <a:r>
              <a:rPr lang="en-US" altLang="zh-CN" sz="1600" b="0" i="0" dirty="0">
                <a:solidFill>
                  <a:srgbClr val="191919"/>
                </a:solidFill>
                <a:effectLst/>
                <a:latin typeface="Huawei Sans"/>
              </a:rPr>
              <a:t>": "https://issuer.example.com",</a:t>
            </a:r>
          </a:p>
          <a:p>
            <a:r>
              <a:rPr lang="en-US" altLang="zh-CN" sz="1600" b="0" i="0" dirty="0">
                <a:solidFill>
                  <a:srgbClr val="191919"/>
                </a:solidFill>
                <a:effectLst/>
                <a:latin typeface="Huawei Sans"/>
              </a:rPr>
              <a:t>  "sub": "user@example.com",</a:t>
            </a:r>
          </a:p>
          <a:p>
            <a:r>
              <a:rPr lang="en-US" altLang="zh-CN" sz="1600" b="0" i="0" dirty="0">
                <a:solidFill>
                  <a:srgbClr val="30B5C5"/>
                </a:solidFill>
                <a:effectLst/>
                <a:latin typeface="Huawei Sans"/>
              </a:rPr>
              <a:t>  "</a:t>
            </a:r>
            <a:r>
              <a:rPr lang="en-US" altLang="zh-CN" sz="1600" b="0" i="0" dirty="0" err="1">
                <a:solidFill>
                  <a:srgbClr val="30B5C5"/>
                </a:solidFill>
                <a:effectLst/>
                <a:latin typeface="Huawei Sans"/>
              </a:rPr>
              <a:t>client_id</a:t>
            </a:r>
            <a:r>
              <a:rPr lang="en-US" altLang="zh-CN" sz="1600" b="0" i="0" dirty="0">
                <a:solidFill>
                  <a:srgbClr val="30B5C5"/>
                </a:solidFill>
                <a:effectLst/>
                <a:latin typeface="Huawei Sans"/>
              </a:rPr>
              <a:t>": "leader_agent@example.com",</a:t>
            </a:r>
          </a:p>
          <a:p>
            <a:r>
              <a:rPr lang="en-US" altLang="zh-CN" sz="1600" b="0" i="0" dirty="0">
                <a:solidFill>
                  <a:srgbClr val="191919"/>
                </a:solidFill>
                <a:effectLst/>
                <a:latin typeface="Huawei Sans"/>
              </a:rPr>
              <a:t>  "scope": "status feed",</a:t>
            </a:r>
          </a:p>
          <a:p>
            <a:r>
              <a:rPr lang="en-US" altLang="zh-CN" sz="1600" b="0" i="0" dirty="0">
                <a:solidFill>
                  <a:srgbClr val="191919"/>
                </a:solidFill>
                <a:effectLst/>
                <a:latin typeface="Huawei Sans"/>
              </a:rPr>
              <a:t>  </a:t>
            </a:r>
            <a:r>
              <a:rPr lang="en-US" altLang="zh-CN" sz="1600" b="0" i="0" dirty="0">
                <a:solidFill>
                  <a:srgbClr val="30B5C5"/>
                </a:solidFill>
                <a:effectLst/>
                <a:latin typeface="Huawei Sans"/>
              </a:rPr>
              <a:t>"</a:t>
            </a:r>
            <a:r>
              <a:rPr lang="en-US" altLang="zh-CN" sz="1600" b="0" i="0" dirty="0" err="1">
                <a:solidFill>
                  <a:srgbClr val="30B5C5"/>
                </a:solidFill>
                <a:effectLst/>
                <a:latin typeface="Huawei Sans"/>
              </a:rPr>
              <a:t>may_act</a:t>
            </a:r>
            <a:r>
              <a:rPr lang="en-US" altLang="zh-CN" sz="1600" b="0" i="0" dirty="0">
                <a:solidFill>
                  <a:srgbClr val="30B5C5"/>
                </a:solidFill>
                <a:effectLst/>
                <a:latin typeface="Huawei Sans"/>
              </a:rPr>
              <a:t>": { </a:t>
            </a:r>
            <a:r>
              <a:rPr lang="en-US" altLang="zh-CN" sz="1600" b="0" i="0" dirty="0">
                <a:solidFill>
                  <a:srgbClr val="30B5C5"/>
                </a:solidFill>
                <a:effectLst/>
                <a:highlight>
                  <a:srgbClr val="FFFF00"/>
                </a:highlight>
                <a:latin typeface="Huawei Sans"/>
              </a:rPr>
              <a:t>"sub": "admin@example.com"</a:t>
            </a:r>
            <a:r>
              <a:rPr lang="en-US" altLang="zh-CN" sz="1600" b="0" i="0" dirty="0">
                <a:solidFill>
                  <a:srgbClr val="30B5C5"/>
                </a:solidFill>
                <a:effectLst/>
                <a:latin typeface="Huawei Sans"/>
              </a:rPr>
              <a:t> // A}</a:t>
            </a:r>
          </a:p>
          <a:p>
            <a:endParaRPr lang="en-US" altLang="zh-CN" sz="1600" b="0" i="0" dirty="0">
              <a:solidFill>
                <a:srgbClr val="191919"/>
              </a:solidFill>
              <a:effectLst/>
              <a:latin typeface="Huawei San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9E4036-B65D-C0A2-470C-AAC8239D0582}"/>
              </a:ext>
            </a:extLst>
          </p:cNvPr>
          <p:cNvSpPr txBox="1"/>
          <p:nvPr/>
        </p:nvSpPr>
        <p:spPr>
          <a:xfrm>
            <a:off x="5759672" y="1913047"/>
            <a:ext cx="628226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600" dirty="0">
              <a:solidFill>
                <a:srgbClr val="191919"/>
              </a:solidFill>
              <a:latin typeface="Huawei Sans"/>
            </a:endParaRP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"</a:t>
            </a:r>
            <a:r>
              <a:rPr lang="en-US" altLang="zh-CN" sz="1600" dirty="0" err="1">
                <a:solidFill>
                  <a:srgbClr val="191919"/>
                </a:solidFill>
                <a:latin typeface="Huawei Sans"/>
              </a:rPr>
              <a:t>aud</a:t>
            </a:r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": "https://issuer.example.com",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"</a:t>
            </a:r>
            <a:r>
              <a:rPr lang="en-US" altLang="zh-CN" sz="1600" dirty="0" err="1">
                <a:solidFill>
                  <a:srgbClr val="191919"/>
                </a:solidFill>
                <a:latin typeface="Huawei Sans"/>
              </a:rPr>
              <a:t>iss</a:t>
            </a:r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": "https://issuer.example.com",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"sub": "user@example.com",</a:t>
            </a:r>
          </a:p>
          <a:p>
            <a:r>
              <a:rPr lang="en-US" altLang="zh-CN" sz="1600" dirty="0">
                <a:solidFill>
                  <a:srgbClr val="30B5C5"/>
                </a:solidFill>
                <a:latin typeface="Huawei Sans"/>
              </a:rPr>
              <a:t>  "</a:t>
            </a:r>
            <a:r>
              <a:rPr lang="en-US" altLang="zh-CN" sz="1600" dirty="0" err="1">
                <a:solidFill>
                  <a:srgbClr val="30B5C5"/>
                </a:solidFill>
                <a:latin typeface="Huawei Sans"/>
              </a:rPr>
              <a:t>client_id</a:t>
            </a:r>
            <a:r>
              <a:rPr lang="en-US" altLang="zh-CN" sz="1600" dirty="0">
                <a:solidFill>
                  <a:srgbClr val="30B5C5"/>
                </a:solidFill>
                <a:latin typeface="Huawei Sans"/>
              </a:rPr>
              <a:t>": "leader_agent@example.com",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"</a:t>
            </a:r>
            <a:r>
              <a:rPr lang="en-US" altLang="zh-CN" sz="1600" dirty="0" err="1">
                <a:solidFill>
                  <a:srgbClr val="191919"/>
                </a:solidFill>
                <a:latin typeface="Huawei Sans"/>
              </a:rPr>
              <a:t>authorization_details</a:t>
            </a:r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": [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  { "type": "</a:t>
            </a:r>
            <a:r>
              <a:rPr lang="en-US" altLang="zh-CN" sz="1600" dirty="0" err="1">
                <a:solidFill>
                  <a:srgbClr val="191919"/>
                </a:solidFill>
                <a:latin typeface="Huawei Sans"/>
              </a:rPr>
              <a:t>flight_booking</a:t>
            </a:r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",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    "actions": ["search", "book"],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    "locations": ["https://example.com/flights"],</a:t>
            </a:r>
          </a:p>
          <a:p>
            <a:r>
              <a:rPr lang="en-US" altLang="zh-CN" sz="1600" dirty="0">
                <a:solidFill>
                  <a:srgbClr val="30B5C5"/>
                </a:solidFill>
                <a:latin typeface="Huawei Sans"/>
              </a:rPr>
              <a:t>      "</a:t>
            </a:r>
            <a:r>
              <a:rPr lang="en-US" altLang="zh-CN" sz="1600" dirty="0" err="1">
                <a:solidFill>
                  <a:srgbClr val="30B5C5"/>
                </a:solidFill>
                <a:latin typeface="Huawei Sans"/>
              </a:rPr>
              <a:t>may_act</a:t>
            </a:r>
            <a:r>
              <a:rPr lang="en-US" altLang="zh-CN" sz="1600" dirty="0">
                <a:solidFill>
                  <a:srgbClr val="30B5C5"/>
                </a:solidFill>
                <a:latin typeface="Huawei Sans"/>
              </a:rPr>
              <a:t>": </a:t>
            </a:r>
            <a:r>
              <a:rPr lang="en-US" altLang="zh-CN" sz="1600" dirty="0">
                <a:solidFill>
                  <a:srgbClr val="30B5C5"/>
                </a:solidFill>
                <a:highlight>
                  <a:srgbClr val="FFFF00"/>
                </a:highlight>
                <a:latin typeface="Huawei Sans"/>
              </a:rPr>
              <a:t>{"sub": "flight_agent@example.com" </a:t>
            </a:r>
            <a:r>
              <a:rPr lang="en-US" altLang="zh-CN" sz="1600" dirty="0">
                <a:solidFill>
                  <a:srgbClr val="30B5C5"/>
                </a:solidFill>
                <a:latin typeface="Huawei Sans"/>
              </a:rPr>
              <a:t>// A}},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  { "type": "</a:t>
            </a:r>
            <a:r>
              <a:rPr lang="en-US" altLang="zh-CN" sz="1600" dirty="0" err="1">
                <a:solidFill>
                  <a:srgbClr val="191919"/>
                </a:solidFill>
                <a:latin typeface="Huawei Sans"/>
              </a:rPr>
              <a:t>hotel_reservation</a:t>
            </a:r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",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    "actions": ["search", "book"],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    "locations": ["https://example.com/hotels"],</a:t>
            </a:r>
          </a:p>
          <a:p>
            <a:r>
              <a:rPr lang="en-US" altLang="zh-CN" sz="1600" dirty="0">
                <a:solidFill>
                  <a:srgbClr val="191919"/>
                </a:solidFill>
                <a:latin typeface="Huawei Sans"/>
              </a:rPr>
              <a:t>      </a:t>
            </a:r>
            <a:r>
              <a:rPr lang="en-US" altLang="zh-CN" sz="1600" dirty="0">
                <a:solidFill>
                  <a:srgbClr val="30B5C5"/>
                </a:solidFill>
                <a:latin typeface="Huawei Sans"/>
              </a:rPr>
              <a:t>"</a:t>
            </a:r>
            <a:r>
              <a:rPr lang="en-US" altLang="zh-CN" sz="1600" dirty="0" err="1">
                <a:solidFill>
                  <a:srgbClr val="30B5C5"/>
                </a:solidFill>
                <a:latin typeface="Huawei Sans"/>
              </a:rPr>
              <a:t>may_act</a:t>
            </a:r>
            <a:r>
              <a:rPr lang="en-US" altLang="zh-CN" sz="1600" dirty="0">
                <a:solidFill>
                  <a:srgbClr val="30B5C5"/>
                </a:solidFill>
                <a:latin typeface="Huawei Sans"/>
              </a:rPr>
              <a:t>": </a:t>
            </a:r>
            <a:r>
              <a:rPr lang="en-US" altLang="zh-CN" sz="1600" dirty="0">
                <a:solidFill>
                  <a:srgbClr val="30B5C5"/>
                </a:solidFill>
                <a:highlight>
                  <a:srgbClr val="FFFF00"/>
                </a:highlight>
                <a:latin typeface="Huawei Sans"/>
              </a:rPr>
              <a:t>{ "sub": "hotel_agent@example.com" </a:t>
            </a:r>
            <a:r>
              <a:rPr lang="en-US" altLang="zh-CN" sz="1600" dirty="0">
                <a:solidFill>
                  <a:srgbClr val="30B5C5"/>
                </a:solidFill>
                <a:latin typeface="Huawei Sans"/>
              </a:rPr>
              <a:t>// B}}]</a:t>
            </a:r>
          </a:p>
          <a:p>
            <a:endParaRPr lang="zh-CN" altLang="en-US" sz="1600" dirty="0">
              <a:solidFill>
                <a:srgbClr val="191919"/>
              </a:solidFill>
              <a:latin typeface="Huawei San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DBDFCA4-4B4D-E76E-0C64-7B716EC2B603}"/>
              </a:ext>
            </a:extLst>
          </p:cNvPr>
          <p:cNvSpPr txBox="1">
            <a:spLocks/>
          </p:cNvSpPr>
          <p:nvPr/>
        </p:nvSpPr>
        <p:spPr>
          <a:xfrm>
            <a:off x="438813" y="5562"/>
            <a:ext cx="12012203" cy="7979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Authorization Delegation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—Our Solution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43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1014</Words>
  <Application>Microsoft Office PowerPoint</Application>
  <PresentationFormat>宽屏</PresentationFormat>
  <Paragraphs>126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Huawei Sans</vt:lpstr>
      <vt:lpstr>quote-cjk-patch</vt:lpstr>
      <vt:lpstr>等线</vt:lpstr>
      <vt:lpstr>等线 Light</vt:lpstr>
      <vt:lpstr>微软雅黑</vt:lpstr>
      <vt:lpstr>Arial</vt:lpstr>
      <vt:lpstr>Calibri</vt:lpstr>
      <vt:lpstr>Wingdings</vt:lpstr>
      <vt:lpstr>Office 主题​​</vt:lpstr>
      <vt:lpstr>Use Cases and Solutions for Multi-Agent Authorization</vt:lpstr>
      <vt:lpstr>Cross-Domain Task Context Propagation</vt:lpstr>
      <vt:lpstr>Cross-Domain Task Context Propagation</vt:lpstr>
      <vt:lpstr>PowerPoint 演示文稿</vt:lpstr>
      <vt:lpstr>PowerPoint 演示文稿</vt:lpstr>
      <vt:lpstr>PowerPoint 演示文稿</vt:lpstr>
      <vt:lpstr>Cross-Domain Task Context Propagation</vt:lpstr>
      <vt:lpstr>PowerPoint 演示文稿</vt:lpstr>
      <vt:lpstr>PowerPoint 演示文稿</vt:lpstr>
      <vt:lpstr>PowerPoint 演示文稿</vt:lpstr>
    </vt:vector>
  </TitlesOfParts>
  <Company>Huawei Technologies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niyuan</dc:creator>
  <cp:lastModifiedBy>niyuan</cp:lastModifiedBy>
  <cp:revision>1</cp:revision>
  <dcterms:created xsi:type="dcterms:W3CDTF">2026-07-18T20:56:31Z</dcterms:created>
  <dcterms:modified xsi:type="dcterms:W3CDTF">2026-07-18T21:43:29Z</dcterms:modified>
</cp:coreProperties>
</file>